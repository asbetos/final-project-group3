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9" r:id="rId8"/>
    <p:sldId id="270" r:id="rId9"/>
    <p:sldId id="263" r:id="rId10"/>
    <p:sldId id="272" r:id="rId11"/>
    <p:sldId id="265" r:id="rId12"/>
    <p:sldId id="273" r:id="rId13"/>
    <p:sldId id="264" r:id="rId14"/>
    <p:sldId id="27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8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8T15:44:08.2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7,'43'0,"-4"0,-4 0,1 0,-1 0,2 0,-1 0,2 0,6 0,0 0,-1 0,-3 0,9 0,-11 0,5 0,-16 0,-5 0,-3 0,0 0,-1 0,0 0,0 0,-2 0,0 0,0 0,-1 0,0 0,-1 0,-2 0,3 0,-5 0,3 0,-4 0,1 0,2 0,-2 0,1-3,-4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09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715A-81A2-B9EA-5275-F3BFD9F6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50A60-11B2-C7CD-1118-961224C6B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327B1-A6FF-8235-5648-162649D7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069DC-571D-B2D8-3CFD-C040B0221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2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0BD9-EE14-621C-93A3-C0BCE435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8753B-1639-FDAA-48AA-1C2DD7FBE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DBF8B-6E9D-A206-783A-845FAB21D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A09FC-8A41-A918-9DB8-3DF40E5BD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29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41DA-60EF-B2C1-0E37-A45361F3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3B45B-2F2C-251E-39C7-AAE3885D3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BBE00-CD8A-5FCC-CD8D-CCE73C8A4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3EA49-7973-4537-8A16-B94342971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66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21ED-2BF0-025B-0805-A36DA085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A697E-5937-1A68-ACB9-3BE281967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3BBAF-7C5F-C223-8447-589793765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BE0CF-B464-AE7F-0441-3514AE8CF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13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B7FA-5829-5BEA-B0F1-04995EB3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05A11-362C-E8D2-68F5-4F819EC18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03A39-D46D-3AF8-3D2E-6241D6601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881D2-7EDF-C2B3-37EB-CCB8FC7B2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58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2F5DB-8BD4-95AC-593D-BA3A2BAA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CDC8F-628D-FF83-3594-8F9C9998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ACE60-E7F8-0EFE-8326-574C76471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68A10-906D-3775-5BEE-096883D30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4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Speculative Decoding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Acceleration for LLMs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189988"/>
            <a:ext cx="6967722" cy="70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>
                <a:solidFill>
                  <a:srgbClr val="5F6673"/>
                </a:solidFill>
                <a:latin typeface="Aptos" pitchFamily="34" charset="0"/>
              </a:rPr>
              <a:t>Benchmarking Gemma Speculative Decoding and EAGLE-3 on Mid-Tier GPU Hardware</a:t>
            </a:r>
          </a:p>
        </p:txBody>
      </p:sp>
      <p:sp>
        <p:nvSpPr>
          <p:cNvPr id="6" name="Text 4"/>
          <p:cNvSpPr/>
          <p:nvPr/>
        </p:nvSpPr>
        <p:spPr>
          <a:xfrm>
            <a:off x="658368" y="60441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Venkatesh Nagarjuna  ·  Jeongmin An  ·  Manoj Kodihalli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0" y="96012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1417320"/>
            <a:ext cx="0" cy="219456"/>
          </a:xfrm>
          <a:prstGeom prst="line">
            <a:avLst/>
          </a:prstGeom>
          <a:noFill/>
          <a:ln w="254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47888" y="1645920"/>
            <a:ext cx="1828800" cy="420624"/>
          </a:xfrm>
          <a:prstGeom prst="rect">
            <a:avLst/>
          </a:prstGeom>
          <a:solidFill>
            <a:srgbClr val="94D34E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62288" y="2103120"/>
            <a:ext cx="0" cy="219456"/>
          </a:xfrm>
          <a:prstGeom prst="line">
            <a:avLst/>
          </a:prstGeom>
          <a:noFill/>
          <a:ln w="254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863840" y="233172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78240" y="2788920"/>
            <a:ext cx="0" cy="219456"/>
          </a:xfrm>
          <a:prstGeom prst="line">
            <a:avLst/>
          </a:prstGeom>
          <a:noFill/>
          <a:ln w="254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47888" y="3017520"/>
            <a:ext cx="1828800" cy="420624"/>
          </a:xfrm>
          <a:prstGeom prst="rect">
            <a:avLst/>
          </a:prstGeom>
          <a:solidFill>
            <a:srgbClr val="CFEFAE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62288" y="3474720"/>
            <a:ext cx="0" cy="219456"/>
          </a:xfrm>
          <a:prstGeom prst="line">
            <a:avLst/>
          </a:prstGeom>
          <a:noFill/>
          <a:ln w="254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863840" y="370332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39" y="5193792"/>
            <a:ext cx="3580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Use a draft model or draft head to propose candidate tokens, then verify them with the target model.</a:t>
            </a:r>
            <a:endParaRPr lang="en-US" sz="1340" dirty="0">
              <a:solidFill>
                <a:srgbClr val="15151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7208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Selection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speculative decoding is a meaningful NLP systems problem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b="1" dirty="0">
                <a:latin typeface="+mj-lt"/>
              </a:rPr>
              <a:t>LLMs generate text autoregressively: one token</a:t>
            </a:r>
            <a:r>
              <a:rPr lang="ko-KR" altLang="en-US" b="1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at a time.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5F6673"/>
                </a:solidFill>
                <a:latin typeface="Aptos" pitchFamily="34" charset="0"/>
              </a:rPr>
              <a:t>Each new token requires another decoding step, so inference can become slow and memory-bandwidth bound.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selected this because: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807763"/>
            <a:ext cx="55778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en-US" sz="144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/>
              <a:t>It addresses a real inference bottleneck in autoregressive LLM generation.</a:t>
            </a:r>
          </a:p>
        </p:txBody>
      </p:sp>
      <p:sp>
        <p:nvSpPr>
          <p:cNvPr id="12" name="Text 10"/>
          <p:cNvSpPr/>
          <p:nvPr/>
        </p:nvSpPr>
        <p:spPr>
          <a:xfrm>
            <a:off x="868680" y="4463947"/>
            <a:ext cx="5577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benchmarks use flagship GPUs, leaving less guidance for A10G-style hardware.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178365"/>
            <a:ext cx="5715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core NLP concepts: autoregressive decoding, probability distributions, and sampling.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7728" y="1828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693408" y="224028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token / pass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41080" y="2240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B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18320" y="1828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098280" y="2240280"/>
            <a:ext cx="2103120" cy="420624"/>
          </a:xfrm>
          <a:prstGeom prst="rect">
            <a:avLst/>
          </a:prstGeom>
          <a:solidFill>
            <a:srgbClr val="94D34E"/>
          </a:solidFill>
          <a:ln>
            <a:solidFill>
              <a:srgbClr val="94D34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tokens / step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3408" y="3154680"/>
            <a:ext cx="452628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21424" y="3528534"/>
            <a:ext cx="45537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Speculative decoding uses a draft component to propose candidate tokens, and the target model verifies them. If the candidates are accepted, generation can advance by multiple tokens in one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</a:t>
            </a:r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</a:rPr>
              <a:t> Standard </a:t>
            </a:r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Speculative Decoding Works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first, verify once, then continue from the accepted prefix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3</a:t>
            </a:r>
            <a:endParaRPr lang="en-US" sz="850" dirty="0"/>
          </a:p>
        </p:txBody>
      </p:sp>
      <p:pic>
        <p:nvPicPr>
          <p:cNvPr id="8" name="Image 0" descr="/mnt/data/spec_decode_diagram_final.png"/>
          <p:cNvPicPr>
            <a:picLocks noChangeAspect="1"/>
          </p:cNvPicPr>
          <p:nvPr/>
        </p:nvPicPr>
        <p:blipFill>
          <a:blip r:embed="rId3"/>
          <a:srcRect t="78" b="78"/>
          <a:stretch/>
        </p:blipFill>
        <p:spPr>
          <a:xfrm>
            <a:off x="640080" y="1691640"/>
            <a:ext cx="6629400" cy="3154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438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Step-by-step logic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084832"/>
            <a:ext cx="329184" cy="329184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19288" y="2066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context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19288" y="23774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673"/>
                </a:solidFill>
                <a:latin typeface="Aptos" pitchFamily="34" charset="0"/>
              </a:rPr>
              <a:t>Both models start from the current prefix.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7543800" y="2907792"/>
            <a:ext cx="329184" cy="329184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19288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proposal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19288" y="32004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draft model proposes γ candidate tokens.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7543800" y="3730752"/>
            <a:ext cx="329184" cy="329184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19288" y="3712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verification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19288" y="4023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evaluates the proposal in one batched step.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7543800" y="4553712"/>
            <a:ext cx="329184" cy="329184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45354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 or resample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019288" y="48463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tokens are appended; the process repeats.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7543800" y="5559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variable: γ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9326880" y="55595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controls how many draft tokens are proposed before verification.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/>
              <a:t>Final Gemma Experimental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996856"/>
            <a:ext cx="9509760" cy="33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F6673"/>
                </a:solidFill>
                <a:latin typeface="Aptos" pitchFamily="34" charset="0"/>
              </a:rPr>
              <a:t>Final report focuses on two completed acceleration modules for Gemma-3-12B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configurations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274320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/ Head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537960" y="2148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VRAM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384048" cy="384048"/>
          </a:xfrm>
          <a:prstGeom prst="rect">
            <a:avLst/>
          </a:prstGeom>
          <a:solidFill>
            <a:srgbClr val="6DBB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gemma-3-12B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gemma-3-1B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6609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&lt; 10GB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145536"/>
            <a:ext cx="6903720" cy="0"/>
          </a:xfrm>
          <a:prstGeom prst="line">
            <a:avLst/>
          </a:prstGeom>
          <a:noFill/>
          <a:ln w="1270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731520" y="3327912"/>
            <a:ext cx="384048" cy="384048"/>
          </a:xfrm>
          <a:prstGeom prst="rect">
            <a:avLst/>
          </a:prstGeom>
          <a:solidFill>
            <a:srgbClr val="F2A9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373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EAGLE-3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43200" y="3373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gemma-</a:t>
            </a:r>
            <a:r>
              <a:rPr lang="en-US" altLang="ko-KR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r>
              <a:rPr lang="en-US" altLang="ko-KR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3373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draft head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3373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&lt; 10GB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1520" y="3858264"/>
            <a:ext cx="6903720" cy="0"/>
          </a:xfrm>
          <a:prstGeom prst="line">
            <a:avLst/>
          </a:prstGeom>
          <a:noFill/>
          <a:ln w="1270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771997" y="40674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target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36789" y="40492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g5.2xlarge · NVIDIA A10G · 24 GB VRAM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8778240" y="202971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shift matters</a:t>
            </a:r>
            <a:endParaRPr lang="en-US" sz="1700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F7AE21BD-9670-D9A4-4107-B5EB0E1B3992}"/>
              </a:ext>
            </a:extLst>
          </p:cNvPr>
          <p:cNvSpPr/>
          <p:nvPr/>
        </p:nvSpPr>
        <p:spPr>
          <a:xfrm>
            <a:off x="658368" y="4996152"/>
            <a:ext cx="5212080" cy="1204397"/>
          </a:xfrm>
          <a:prstGeom prst="roundRect">
            <a:avLst>
              <a:gd name="adj" fmla="val 4000"/>
            </a:avLst>
          </a:prstGeom>
          <a:solidFill>
            <a:srgbClr val="F7FFF0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</a:rPr>
              <a:t>Module 1: Standard speculative decoding</a:t>
            </a:r>
          </a:p>
          <a:p>
            <a:pPr algn="ctr"/>
            <a:endParaRPr lang="en-US" sz="1200" dirty="0"/>
          </a:p>
          <a:p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Pair F uses Gemma-3-12B-it as the target and Gemma-3-1B-it as the separate draft model. The module tests whether a smaller Gemma draft can improve throughput for the larger target.</a:t>
            </a:r>
            <a:endParaRPr lang="en-KR" sz="1100">
              <a:solidFill>
                <a:srgbClr val="5F6673"/>
              </a:solidFill>
              <a:latin typeface="Aptos" pitchFamily="34" charset="0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9B677780-C4DC-68E3-2AC3-48641A6CC283}"/>
              </a:ext>
            </a:extLst>
          </p:cNvPr>
          <p:cNvSpPr/>
          <p:nvPr/>
        </p:nvSpPr>
        <p:spPr>
          <a:xfrm>
            <a:off x="6425184" y="5005979"/>
            <a:ext cx="5212080" cy="1194561"/>
          </a:xfrm>
          <a:prstGeom prst="roundRect">
            <a:avLst>
              <a:gd name="adj" fmla="val 4000"/>
            </a:avLst>
          </a:prstGeom>
          <a:solidFill>
            <a:srgbClr val="F7FFF0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</a:rPr>
              <a:t>Module 2: EAGLE-3 draft head</a:t>
            </a:r>
          </a:p>
          <a:p>
            <a:pPr algn="ctr"/>
            <a:endParaRPr lang="en-US" sz="1200" dirty="0"/>
          </a:p>
          <a:p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EAGLE-3 replaces the full separate draft model with a learned draft head operating on the target model’s hidden states. This tests a more compact acceleration path.</a:t>
            </a:r>
            <a:endParaRPr lang="en-KR" sz="1100">
              <a:solidFill>
                <a:srgbClr val="5F6673"/>
              </a:solidFill>
              <a:latin typeface="Aptos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58FD84-7F36-5BB6-DA15-8264F509040E}"/>
              </a:ext>
            </a:extLst>
          </p:cNvPr>
          <p:cNvSpPr txBox="1"/>
          <p:nvPr/>
        </p:nvSpPr>
        <p:spPr>
          <a:xfrm>
            <a:off x="8251733" y="2482577"/>
            <a:ext cx="3323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/>
              <a:t>Early model-selection trials narrowed the scope.</a:t>
            </a:r>
            <a:r>
              <a:rPr lang="ko-KR" altLang="en-US" sz="1100" dirty="0"/>
              <a:t> </a:t>
            </a:r>
            <a:r>
              <a:rPr lang="en-US" sz="1100" dirty="0"/>
              <a:t>The final report focuses on completed Gemma-3-12B results: Pair F standard speculative decoding and EAGLE-3 draft-head acceleration. </a:t>
            </a:r>
          </a:p>
          <a:p>
            <a:r>
              <a:rPr lang="en-US" sz="1100" dirty="0"/>
              <a:t>This creates a clear comparison between a separate draft model and a learned draft head.</a:t>
            </a:r>
            <a:endParaRPr lang="en-KR" sz="1100">
              <a:solidFill>
                <a:srgbClr val="5F6673"/>
              </a:solidFill>
              <a:latin typeface="Aptos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2265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task domains test when speculative decoding helps or hurts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evaluate acceptance behavior across prompt sets with different output predictability.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HumanEval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2331720" cy="0"/>
          </a:xfrm>
          <a:prstGeom prst="line">
            <a:avLst/>
          </a:prstGeom>
          <a:noFill/>
          <a:ln w="381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completion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02736"/>
            <a:ext cx="1143000" cy="329184"/>
          </a:xfrm>
          <a:prstGeom prst="rect">
            <a:avLst/>
          </a:prstGeom>
          <a:solidFill>
            <a:srgbClr val="EFF3EC"/>
          </a:solidFill>
          <a:ln>
            <a:solidFill>
              <a:srgbClr val="EFF3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prompts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1696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highly structured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24871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Trivia QA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611880" y="2926080"/>
            <a:ext cx="2331720" cy="0"/>
          </a:xfrm>
          <a:prstGeom prst="line">
            <a:avLst/>
          </a:prstGeom>
          <a:noFill/>
          <a:ln w="38100">
            <a:solidFill>
              <a:srgbClr val="6DBB2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361188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602736"/>
            <a:ext cx="1143000" cy="329184"/>
          </a:xfrm>
          <a:prstGeom prst="rect">
            <a:avLst/>
          </a:prstGeom>
          <a:solidFill>
            <a:srgbClr val="EFF3EC"/>
          </a:solidFill>
          <a:ln>
            <a:solidFill>
              <a:srgbClr val="EFF3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prompts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41696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knowledge-focused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4871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CNN/DailyMail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0" y="2926080"/>
            <a:ext cx="233172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602736"/>
            <a:ext cx="1143000" cy="329184"/>
          </a:xfrm>
          <a:prstGeom prst="rect">
            <a:avLst/>
          </a:prstGeom>
          <a:solidFill>
            <a:srgbClr val="EFF3EC"/>
          </a:solidFill>
          <a:ln>
            <a:solidFill>
              <a:srgbClr val="EFF3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prompts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1696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moderately constrained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89720" y="24871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WritingPrompts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89720" y="2926080"/>
            <a:ext cx="233172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18972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writing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9720" y="3602736"/>
            <a:ext cx="1143000" cy="329184"/>
          </a:xfrm>
          <a:prstGeom prst="rect">
            <a:avLst/>
          </a:prstGeom>
          <a:solidFill>
            <a:srgbClr val="EFF3EC"/>
          </a:solidFill>
          <a:ln>
            <a:solidFill>
              <a:srgbClr val="EFF3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prompts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89720" y="41696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entropy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4992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5102352"/>
            <a:ext cx="6217920" cy="0"/>
          </a:xfrm>
          <a:prstGeom prst="line">
            <a:avLst/>
          </a:prstGeom>
          <a:noFill/>
          <a:ln w="50800">
            <a:solidFill>
              <a:srgbClr val="6DBB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006840" y="4992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High-entropy 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2960" y="572414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All prompt sets use 50 prompts sampled with seed 42 from Hugging Face Datasets.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7233"/>
            <a:ext cx="12191695" cy="6843533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1: Standard Speculative Decoding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vary speculation length and randomness across all tasks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variables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values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48840" y="2121408"/>
            <a:ext cx="393192" cy="329184"/>
          </a:xfrm>
          <a:prstGeom prst="rect">
            <a:avLst/>
          </a:prstGeom>
          <a:solidFill>
            <a:srgbClr val="E9F7D7"/>
          </a:solidFill>
          <a:ln>
            <a:solidFill>
              <a:srgbClr val="E9F7D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79192" y="2121408"/>
            <a:ext cx="393192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9544" y="2121408"/>
            <a:ext cx="393192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39896" y="2121408"/>
            <a:ext cx="393192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70248" y="2121408"/>
            <a:ext cx="393192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48840" y="2706624"/>
            <a:ext cx="502920" cy="329184"/>
          </a:xfrm>
          <a:prstGeom prst="rect">
            <a:avLst/>
          </a:prstGeom>
          <a:solidFill>
            <a:srgbClr val="E9F7D7"/>
          </a:solidFill>
          <a:ln>
            <a:solidFill>
              <a:srgbClr val="E9F7D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07208" y="2706624"/>
            <a:ext cx="502920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65576" y="2706624"/>
            <a:ext cx="502920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48840" y="3291840"/>
            <a:ext cx="877824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HumanEval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27832" y="3291840"/>
            <a:ext cx="877824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TriviaQA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06824" y="3291840"/>
            <a:ext cx="877824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CNN/DM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85816" y="3291840"/>
            <a:ext cx="877824" cy="329184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captured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4828032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rate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22576" y="4828032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length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95344" y="4828032"/>
            <a:ext cx="1417320" cy="384048"/>
          </a:xfrm>
          <a:prstGeom prst="rect">
            <a:avLst/>
          </a:prstGeom>
          <a:solidFill>
            <a:srgbClr val="DDF6C1"/>
          </a:solidFill>
          <a:ln>
            <a:solidFill>
              <a:srgbClr val="DDF6C1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68112" y="4828032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TTFT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9808" y="5358384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VRAM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322576" y="5358384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overhead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646438" y="286465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flow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646438" y="3257850"/>
            <a:ext cx="2331720" cy="37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prompts</a:t>
            </a:r>
          </a:p>
          <a:p>
            <a:pPr algn="ctr"/>
            <a:r>
              <a:rPr lang="en-US" altLang="ko-KR" sz="800" dirty="0"/>
              <a:t>4</a:t>
            </a:r>
            <a:r>
              <a:rPr lang="ko-KR" altLang="en-US" sz="800" dirty="0"/>
              <a:t> </a:t>
            </a:r>
            <a:r>
              <a:rPr lang="en-US" altLang="ko-KR" sz="800" dirty="0"/>
              <a:t>task x 50 prompts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79710" y="366396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46438" y="3897930"/>
            <a:ext cx="2331720" cy="37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baseline</a:t>
            </a:r>
          </a:p>
          <a:p>
            <a:pPr algn="ctr"/>
            <a:r>
              <a:rPr lang="en-US" sz="800" dirty="0"/>
              <a:t>target only; no draft tokens</a:t>
            </a:r>
          </a:p>
        </p:txBody>
      </p:sp>
      <p:sp>
        <p:nvSpPr>
          <p:cNvPr id="36" name="Text 34"/>
          <p:cNvSpPr/>
          <p:nvPr/>
        </p:nvSpPr>
        <p:spPr>
          <a:xfrm>
            <a:off x="8679710" y="430404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46438" y="4538010"/>
            <a:ext cx="2331720" cy="374905"/>
          </a:xfrm>
          <a:prstGeom prst="rect">
            <a:avLst/>
          </a:prstGeom>
          <a:solidFill>
            <a:srgbClr val="DDF6C1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speculative</a:t>
            </a:r>
          </a:p>
          <a:p>
            <a:pPr algn="ctr"/>
            <a:r>
              <a:rPr lang="el-GR" sz="900" dirty="0"/>
              <a:t>γ × </a:t>
            </a:r>
            <a:r>
              <a:rPr lang="en-US" sz="900" dirty="0"/>
              <a:t>temperature × task</a:t>
            </a:r>
          </a:p>
        </p:txBody>
      </p:sp>
      <p:sp>
        <p:nvSpPr>
          <p:cNvPr id="38" name="Text 36"/>
          <p:cNvSpPr/>
          <p:nvPr/>
        </p:nvSpPr>
        <p:spPr>
          <a:xfrm>
            <a:off x="8679710" y="494412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46438" y="5178090"/>
            <a:ext cx="2331720" cy="37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CSV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679710" y="558420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DB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46438" y="5818170"/>
            <a:ext cx="2331720" cy="374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 comparison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291073" y="6287858"/>
            <a:ext cx="6777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5F6673"/>
                </a:solidFill>
                <a:latin typeface="Aptos" pitchFamily="34" charset="0"/>
              </a:rPr>
              <a:t>Find when the speed gained from accepted draft tokens outweighs the extra draft-model cost.</a:t>
            </a:r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8DFFE84A-230D-356D-6069-A6FBD5D5F35A}"/>
              </a:ext>
            </a:extLst>
          </p:cNvPr>
          <p:cNvSpPr/>
          <p:nvPr/>
        </p:nvSpPr>
        <p:spPr>
          <a:xfrm>
            <a:off x="3913632" y="5349240"/>
            <a:ext cx="1417320" cy="384048"/>
          </a:xfrm>
          <a:prstGeom prst="rect">
            <a:avLst/>
          </a:prstGeom>
          <a:solidFill>
            <a:srgbClr val="F2F8EC"/>
          </a:solidFill>
          <a:ln>
            <a:solidFill>
              <a:srgbClr val="F2F8E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51515"/>
                </a:solidFill>
                <a:latin typeface="Aptos" pitchFamily="34" charset="0"/>
              </a:rPr>
              <a:t>TPS / throughput</a:t>
            </a: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A58B13AB-3AA4-0613-806E-6A4425F87990}"/>
              </a:ext>
            </a:extLst>
          </p:cNvPr>
          <p:cNvSpPr/>
          <p:nvPr/>
        </p:nvSpPr>
        <p:spPr>
          <a:xfrm>
            <a:off x="5946832" y="1577401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Active configuration</a:t>
            </a:r>
            <a:endParaRPr lang="en-US" sz="1400" dirty="0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7417AAE6-225C-A019-B36D-112DE1F6AC63}"/>
              </a:ext>
            </a:extLst>
          </p:cNvPr>
          <p:cNvSpPr/>
          <p:nvPr/>
        </p:nvSpPr>
        <p:spPr>
          <a:xfrm>
            <a:off x="5946832" y="1905521"/>
            <a:ext cx="502920" cy="358489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Pair</a:t>
            </a:r>
            <a:endParaRPr lang="en-US" sz="11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7FF9459B-BFB0-FC22-9261-4242429931A8}"/>
              </a:ext>
            </a:extLst>
          </p:cNvPr>
          <p:cNvSpPr/>
          <p:nvPr/>
        </p:nvSpPr>
        <p:spPr>
          <a:xfrm>
            <a:off x="6449752" y="1905522"/>
            <a:ext cx="1828800" cy="365760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KR" sz="1100" b="1">
              <a:solidFill>
                <a:srgbClr val="FFFFFF"/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6386423-704F-B9AB-8B22-1DB2D50122F9}"/>
              </a:ext>
            </a:extLst>
          </p:cNvPr>
          <p:cNvSpPr/>
          <p:nvPr/>
        </p:nvSpPr>
        <p:spPr>
          <a:xfrm>
            <a:off x="8278552" y="1905186"/>
            <a:ext cx="1783080" cy="365760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 b="1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E55A7862-DB06-B57F-C8CC-2840C90087EB}"/>
              </a:ext>
            </a:extLst>
          </p:cNvPr>
          <p:cNvSpPr/>
          <p:nvPr/>
        </p:nvSpPr>
        <p:spPr>
          <a:xfrm>
            <a:off x="5946832" y="2251819"/>
            <a:ext cx="502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/>
              <a:t>F</a:t>
            </a:r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333676A7-EB20-A098-CD9C-1596916220A7}"/>
              </a:ext>
            </a:extLst>
          </p:cNvPr>
          <p:cNvSpPr/>
          <p:nvPr/>
        </p:nvSpPr>
        <p:spPr>
          <a:xfrm>
            <a:off x="6449752" y="2251819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/>
              <a:t>Gemma-3-12B-it</a:t>
            </a:r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E6EF40D0-73D9-C6E6-C956-3313D922EF7F}"/>
              </a:ext>
            </a:extLst>
          </p:cNvPr>
          <p:cNvSpPr/>
          <p:nvPr/>
        </p:nvSpPr>
        <p:spPr>
          <a:xfrm>
            <a:off x="8278552" y="2251819"/>
            <a:ext cx="1783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/>
              <a:t>Gemma-3-1B-it</a:t>
            </a:r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9338A4C0-FF42-068A-58FF-E2CC902AF991}"/>
              </a:ext>
            </a:extLst>
          </p:cNvPr>
          <p:cNvSpPr/>
          <p:nvPr/>
        </p:nvSpPr>
        <p:spPr>
          <a:xfrm>
            <a:off x="10061632" y="2251819"/>
            <a:ext cx="1600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dirty="0"/>
              <a:t>4-bit target; BF16 draft</a:t>
            </a:r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0BB3CA9E-B061-8F65-113F-39E740BDA78A}"/>
              </a:ext>
            </a:extLst>
          </p:cNvPr>
          <p:cNvSpPr/>
          <p:nvPr/>
        </p:nvSpPr>
        <p:spPr>
          <a:xfrm>
            <a:off x="10061632" y="1905186"/>
            <a:ext cx="1600200" cy="346297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 b="1">
                <a:solidFill>
                  <a:srgbClr val="FFFFFF"/>
                </a:solidFill>
              </a:rPr>
              <a:t>Quantization</a:t>
            </a: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CEB6DC42-E986-E177-133B-3C50A2113AF8}"/>
              </a:ext>
            </a:extLst>
          </p:cNvPr>
          <p:cNvSpPr/>
          <p:nvPr/>
        </p:nvSpPr>
        <p:spPr>
          <a:xfrm>
            <a:off x="5291073" y="6095833"/>
            <a:ext cx="505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Goal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8370-D964-70D8-26CF-EAFD478B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80A9EF-43A2-C7E4-0572-E3D7CCB9B5A4}"/>
              </a:ext>
            </a:extLst>
          </p:cNvPr>
          <p:cNvSpPr/>
          <p:nvPr/>
        </p:nvSpPr>
        <p:spPr>
          <a:xfrm>
            <a:off x="305" y="2127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chemeClr val="accent6">
                <a:lumMod val="50000"/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DB3EBD-DF3C-5BEE-C149-32DB235EC03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923F03-EC57-8407-9315-DDFB22A607E2}"/>
              </a:ext>
            </a:extLst>
          </p:cNvPr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</a:rPr>
              <a:t>Pair F Results: Speedup Is Task-Dependent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B12319-ED30-FD78-7733-2AEE91FC9B8D}"/>
              </a:ext>
            </a:extLst>
          </p:cNvPr>
          <p:cNvSpPr/>
          <p:nvPr/>
        </p:nvSpPr>
        <p:spPr>
          <a:xfrm>
            <a:off x="658368" y="973008"/>
            <a:ext cx="9509760" cy="332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F6673"/>
                </a:solidFill>
                <a:latin typeface="Aptos" pitchFamily="34" charset="0"/>
              </a:rPr>
              <a:t>Structured tasks exceed baseline, while open-ended tasks do not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09FDC9-A045-E079-986D-31F43C5F8B13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8C92950-ABB5-85CE-BAD0-47FDEC7DEFF3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8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7C2EFC-BEB4-42E3-40F1-4C349B5E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6"/>
          <a:stretch>
            <a:fillRect/>
          </a:stretch>
        </p:blipFill>
        <p:spPr>
          <a:xfrm>
            <a:off x="5615709" y="3667150"/>
            <a:ext cx="6363855" cy="2681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9A273C-DCC6-30FB-4273-B32E76273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7" y="1543690"/>
            <a:ext cx="7153303" cy="1885310"/>
          </a:xfrm>
          <a:prstGeom prst="rect">
            <a:avLst/>
          </a:prstGeom>
        </p:spPr>
      </p:pic>
      <p:pic>
        <p:nvPicPr>
          <p:cNvPr id="16" name="Image 0">
            <a:extLst>
              <a:ext uri="{FF2B5EF4-FFF2-40B4-BE49-F238E27FC236}">
                <a16:creationId xmlns:a16="http://schemas.microsoft.com/office/drawing/2014/main" id="{D5C85CE7-6E7A-12DA-6FEA-B95789181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30345"/>
            <a:ext cx="4608000" cy="2556831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DD54E1-E57B-7726-AA7D-252C8C429334}"/>
              </a:ext>
            </a:extLst>
          </p:cNvPr>
          <p:cNvCxnSpPr>
            <a:cxnSpLocks/>
          </p:cNvCxnSpPr>
          <p:nvPr/>
        </p:nvCxnSpPr>
        <p:spPr>
          <a:xfrm flipH="1">
            <a:off x="3218337" y="3047999"/>
            <a:ext cx="531389" cy="619151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7F77F09-A51A-55DC-72E5-60E5B6424067}"/>
              </a:ext>
            </a:extLst>
          </p:cNvPr>
          <p:cNvSpPr/>
          <p:nvPr/>
        </p:nvSpPr>
        <p:spPr>
          <a:xfrm>
            <a:off x="3749879" y="1555724"/>
            <a:ext cx="729842" cy="188531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AB73EB-2927-52E2-46BF-43B10C9197B0}"/>
              </a:ext>
            </a:extLst>
          </p:cNvPr>
          <p:cNvSpPr txBox="1"/>
          <p:nvPr/>
        </p:nvSpPr>
        <p:spPr>
          <a:xfrm>
            <a:off x="8044112" y="2191043"/>
            <a:ext cx="388003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HumanEval and TriviaQA exceed baseline, while CNN/DailyMail and WritingPrompts fall below baseline.</a:t>
            </a:r>
          </a:p>
          <a:p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 </a:t>
            </a:r>
          </a:p>
          <a:p>
            <a:r>
              <a:rPr 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Increasing </a:t>
            </a:r>
            <a:r>
              <a:rPr lang="el-GR" sz="1100" dirty="0">
                <a:solidFill>
                  <a:srgbClr val="5F6673"/>
                </a:solidFill>
                <a:latin typeface="Aptos" pitchFamily="34" charset="0"/>
              </a:rPr>
              <a:t>γ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does not always improve speedup; it helps only when the extra drafted tokens are actually accepted.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ADDB36-9888-3A64-0AC1-B024DFE6675B}"/>
              </a:ext>
            </a:extLst>
          </p:cNvPr>
          <p:cNvSpPr txBox="1"/>
          <p:nvPr/>
        </p:nvSpPr>
        <p:spPr>
          <a:xfrm>
            <a:off x="8044112" y="1876309"/>
            <a:ext cx="1224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Takeaway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534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B058-3213-2A1B-195A-109DCA62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925AA0-BCE3-CECC-8301-0F00E640EE81}"/>
              </a:ext>
            </a:extLst>
          </p:cNvPr>
          <p:cNvSpPr/>
          <p:nvPr/>
        </p:nvSpPr>
        <p:spPr>
          <a:xfrm>
            <a:off x="305" y="12034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chemeClr val="accent6">
                <a:lumMod val="50000"/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86B4B7-D56B-3271-C9B6-87AF804B86A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9B8344-E5B6-A5A7-A3FE-B63D6CC30F6C}"/>
              </a:ext>
            </a:extLst>
          </p:cNvPr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</a:rPr>
              <a:t>Pair F Observation: Acceptance Explains Speedup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C78B2B-B079-3F52-8E11-4EA7670E6852}"/>
              </a:ext>
            </a:extLst>
          </p:cNvPr>
          <p:cNvSpPr/>
          <p:nvPr/>
        </p:nvSpPr>
        <p:spPr>
          <a:xfrm>
            <a:off x="658368" y="973008"/>
            <a:ext cx="9509760" cy="332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Higher draft-target agreement produces stronger throughput gains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E3726D-F2FB-72D6-43BE-4C93B4713604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D63EA5-FE01-BA0E-BD91-DE890EB7F95D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9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FB7E21-8500-27AF-EB94-A8B5DE9BA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8" y="1543690"/>
            <a:ext cx="6913158" cy="188531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A5FF804-60E5-76FA-29E4-1B0DD0FC7424}"/>
              </a:ext>
            </a:extLst>
          </p:cNvPr>
          <p:cNvSpPr/>
          <p:nvPr/>
        </p:nvSpPr>
        <p:spPr>
          <a:xfrm>
            <a:off x="4299681" y="1543690"/>
            <a:ext cx="872453" cy="1903598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KR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08BB58-4519-F440-9A51-E48683C801F8}"/>
              </a:ext>
            </a:extLst>
          </p:cNvPr>
          <p:cNvSpPr txBox="1"/>
          <p:nvPr/>
        </p:nvSpPr>
        <p:spPr>
          <a:xfrm>
            <a:off x="7885162" y="2222885"/>
            <a:ext cx="39631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HumanEval and TriviaQA maintain higher acceptance rates, while CNN/DailyMail and WritingPrompts remain lower. </a:t>
            </a:r>
          </a:p>
          <a:p>
            <a:endParaRPr lang="en-US" sz="1100" dirty="0">
              <a:solidFill>
                <a:srgbClr val="5F6673"/>
              </a:solidFill>
              <a:latin typeface="Aptos" pitchFamily="34" charset="0"/>
            </a:endParaRPr>
          </a:p>
          <a:p>
            <a:r>
              <a:rPr 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1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When acceptance is low, many draft tokens are rejected, so extra draft-model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work can make decoding slower instead of faster.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A0BB43-0F02-F644-48BD-D3A0E9299EBC}"/>
              </a:ext>
            </a:extLst>
          </p:cNvPr>
          <p:cNvSpPr txBox="1"/>
          <p:nvPr/>
        </p:nvSpPr>
        <p:spPr>
          <a:xfrm>
            <a:off x="7868621" y="1867079"/>
            <a:ext cx="1183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Takeaway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BB6DDC-D760-8EDC-3428-1222936A1D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51447"/>
          <a:stretch>
            <a:fillRect/>
          </a:stretch>
        </p:blipFill>
        <p:spPr>
          <a:xfrm>
            <a:off x="5588898" y="3749964"/>
            <a:ext cx="6458658" cy="2595234"/>
          </a:xfrm>
          <a:prstGeom prst="rect">
            <a:avLst/>
          </a:prstGeom>
        </p:spPr>
      </p:pic>
      <p:pic>
        <p:nvPicPr>
          <p:cNvPr id="8" name="Image 1">
            <a:extLst>
              <a:ext uri="{FF2B5EF4-FFF2-40B4-BE49-F238E27FC236}">
                <a16:creationId xmlns:a16="http://schemas.microsoft.com/office/drawing/2014/main" id="{C709F3B9-6823-4368-3807-E39D54C1C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98" y="3768252"/>
            <a:ext cx="4603836" cy="257694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8AEFFF-93C8-6346-C71C-552F8AF7DAD8}"/>
              </a:ext>
            </a:extLst>
          </p:cNvPr>
          <p:cNvCxnSpPr>
            <a:cxnSpLocks/>
          </p:cNvCxnSpPr>
          <p:nvPr/>
        </p:nvCxnSpPr>
        <p:spPr>
          <a:xfrm flipH="1">
            <a:off x="3288145" y="3011055"/>
            <a:ext cx="1011536" cy="757197"/>
          </a:xfrm>
          <a:prstGeom prst="straightConnector1">
            <a:avLst/>
          </a:prstGeom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25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>
              <a:highlight>
                <a:srgbClr val="FFFF0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/>
              <a:t>Pair F Observation: Throughput–Latency Trade-off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973008"/>
            <a:ext cx="9509760" cy="332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F6673"/>
                </a:solidFill>
                <a:latin typeface="Aptos" pitchFamily="34" charset="0"/>
              </a:rPr>
              <a:t>Best speculative settings can improve throughput but increase TTFT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10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B994B-060E-80FF-1B34-A69ACEEB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12015"/>
            <a:ext cx="4449156" cy="2884839"/>
          </a:xfrm>
          <a:prstGeom prst="rect">
            <a:avLst/>
          </a:prstGeom>
        </p:spPr>
      </p:pic>
      <p:pic>
        <p:nvPicPr>
          <p:cNvPr id="16" name="Image 0">
            <a:extLst>
              <a:ext uri="{FF2B5EF4-FFF2-40B4-BE49-F238E27FC236}">
                <a16:creationId xmlns:a16="http://schemas.microsoft.com/office/drawing/2014/main" id="{127AF43F-9B8D-2055-F9D1-B46D4CBF24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91"/>
          <a:stretch>
            <a:fillRect/>
          </a:stretch>
        </p:blipFill>
        <p:spPr>
          <a:xfrm>
            <a:off x="5449824" y="3337567"/>
            <a:ext cx="5920285" cy="3118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44B5FA-FCEC-99B9-C4C7-C03EC80BC26A}"/>
              </a:ext>
            </a:extLst>
          </p:cNvPr>
          <p:cNvSpPr txBox="1"/>
          <p:nvPr/>
        </p:nvSpPr>
        <p:spPr>
          <a:xfrm>
            <a:off x="7997928" y="1922493"/>
            <a:ext cx="1224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Takeaway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CDA49-B2E1-EBD4-22CD-8440151F7F2E}"/>
              </a:ext>
            </a:extLst>
          </p:cNvPr>
          <p:cNvSpPr txBox="1"/>
          <p:nvPr/>
        </p:nvSpPr>
        <p:spPr>
          <a:xfrm>
            <a:off x="7997928" y="2219232"/>
            <a:ext cx="362417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r>
              <a:rPr lang="en-US" sz="1100" dirty="0">
                <a:solidFill>
                  <a:srgbClr val="5F6673"/>
                </a:solidFill>
                <a:latin typeface="Aptos" pitchFamily="34" charset="0"/>
              </a:rPr>
              <a:t>Pair F can improve sustained throughput on structured tasks, but the best speedup settings can substantially increase TTFT.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280B4D-B640-9BDC-FA19-6006342A0F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308"/>
          <a:stretch>
            <a:fillRect/>
          </a:stretch>
        </p:blipFill>
        <p:spPr>
          <a:xfrm>
            <a:off x="569894" y="1450762"/>
            <a:ext cx="3678834" cy="166092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B18B9A3-6EEE-F6F9-AC59-3A56C053C0F8}"/>
              </a:ext>
            </a:extLst>
          </p:cNvPr>
          <p:cNvSpPr/>
          <p:nvPr/>
        </p:nvSpPr>
        <p:spPr>
          <a:xfrm>
            <a:off x="2205753" y="1499636"/>
            <a:ext cx="1093517" cy="1612052"/>
          </a:xfrm>
          <a:prstGeom prst="rect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81E3D0C-385E-5500-D72D-F64CC15658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3618"/>
          <a:stretch>
            <a:fillRect/>
          </a:stretch>
        </p:blipFill>
        <p:spPr>
          <a:xfrm>
            <a:off x="4248728" y="1538523"/>
            <a:ext cx="2165666" cy="15284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7A603AB-6120-861C-E324-96BE54291F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9902"/>
          <a:stretch>
            <a:fillRect/>
          </a:stretch>
        </p:blipFill>
        <p:spPr>
          <a:xfrm>
            <a:off x="6414394" y="1543690"/>
            <a:ext cx="1196357" cy="152841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896AD01-D08A-931F-7F0A-31BAFF13ECAB}"/>
              </a:ext>
            </a:extLst>
          </p:cNvPr>
          <p:cNvSpPr/>
          <p:nvPr/>
        </p:nvSpPr>
        <p:spPr>
          <a:xfrm>
            <a:off x="6414394" y="1543690"/>
            <a:ext cx="616658" cy="1563178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F8CE09-AA84-8D7A-8945-0E4D0DF84387}"/>
              </a:ext>
            </a:extLst>
          </p:cNvPr>
          <p:cNvSpPr txBox="1"/>
          <p:nvPr/>
        </p:nvSpPr>
        <p:spPr>
          <a:xfrm>
            <a:off x="569893" y="1410835"/>
            <a:ext cx="12247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Baseline</a:t>
            </a:r>
            <a:endParaRPr 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FCAA6C-D9E6-38E2-F7B5-38D5892B6A29}"/>
              </a:ext>
            </a:extLst>
          </p:cNvPr>
          <p:cNvSpPr txBox="1"/>
          <p:nvPr/>
        </p:nvSpPr>
        <p:spPr>
          <a:xfrm>
            <a:off x="4248728" y="1402469"/>
            <a:ext cx="10935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Speculative</a:t>
            </a:r>
            <a:endParaRPr lang="en-US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59988B-2160-0E64-C353-3CA6785DD281}"/>
              </a:ext>
            </a:extLst>
          </p:cNvPr>
          <p:cNvSpPr txBox="1"/>
          <p:nvPr/>
        </p:nvSpPr>
        <p:spPr>
          <a:xfrm>
            <a:off x="640080" y="3250405"/>
            <a:ext cx="26055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2E7D32"/>
                </a:solidFill>
              </a:rPr>
              <a:t>Overall TTFT pattern across pairs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A15E2D-C018-1039-F616-1757A89BE1AD}"/>
              </a:ext>
            </a:extLst>
          </p:cNvPr>
          <p:cNvSpPr txBox="1"/>
          <p:nvPr/>
        </p:nvSpPr>
        <p:spPr>
          <a:xfrm>
            <a:off x="7888200" y="3356662"/>
            <a:ext cx="17891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2E7D32"/>
                </a:solidFill>
              </a:rPr>
              <a:t>Pair F task-level TTFT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F0BA-57A2-7002-8177-08AABAF7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DD6FFF-14EB-7D2B-B349-1A42E6ACF3DD}"/>
              </a:ext>
            </a:extLst>
          </p:cNvPr>
          <p:cNvSpPr/>
          <p:nvPr/>
        </p:nvSpPr>
        <p:spPr>
          <a:xfrm>
            <a:off x="10079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475329-2DBA-63AD-1DA9-06084C850F2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9A66FD-2774-228B-521B-155FDA0A8501}"/>
              </a:ext>
            </a:extLst>
          </p:cNvPr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2: EAGLE-3 Draft Head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174278-DC5B-97E6-895B-A23CE9E41E93}"/>
              </a:ext>
            </a:extLst>
          </p:cNvPr>
          <p:cNvSpPr/>
          <p:nvPr/>
        </p:nvSpPr>
        <p:spPr>
          <a:xfrm>
            <a:off x="658368" y="973008"/>
            <a:ext cx="9509760" cy="45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A learned draft head built on Gemma target hidden states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ADFEB4-308D-EAB3-C1A2-F4FBE6E4D744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9F35C9-2F72-45B9-305A-8C9A612A4815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11</a:t>
            </a:r>
            <a:endParaRPr lang="en-US" sz="8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EDDDB9B-0657-298D-1E6A-A69110A84F43}"/>
              </a:ext>
            </a:extLst>
          </p:cNvPr>
          <p:cNvSpPr/>
          <p:nvPr/>
        </p:nvSpPr>
        <p:spPr>
          <a:xfrm>
            <a:off x="731520" y="18288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Active configuration</a:t>
            </a:r>
            <a:endParaRPr lang="en-US" sz="14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81BAE27-C43E-9E44-A3D2-94CD88C4F231}"/>
              </a:ext>
            </a:extLst>
          </p:cNvPr>
          <p:cNvSpPr/>
          <p:nvPr/>
        </p:nvSpPr>
        <p:spPr>
          <a:xfrm>
            <a:off x="722284" y="2221572"/>
            <a:ext cx="454065" cy="358489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Pair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9AE9958-EFDD-4F92-F201-8FC1B3EDD824}"/>
              </a:ext>
            </a:extLst>
          </p:cNvPr>
          <p:cNvSpPr/>
          <p:nvPr/>
        </p:nvSpPr>
        <p:spPr>
          <a:xfrm>
            <a:off x="1151316" y="2221573"/>
            <a:ext cx="1651145" cy="365760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KR" sz="1100" b="1">
              <a:solidFill>
                <a:srgbClr val="FFFFFF"/>
              </a:solidFill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D8B3605D-7A74-F867-F603-D8ED7E9144A4}"/>
              </a:ext>
            </a:extLst>
          </p:cNvPr>
          <p:cNvSpPr/>
          <p:nvPr/>
        </p:nvSpPr>
        <p:spPr>
          <a:xfrm>
            <a:off x="2813862" y="2221237"/>
            <a:ext cx="1609867" cy="365760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 b="1">
                <a:solidFill>
                  <a:srgbClr val="FFFFFF"/>
                </a:solidFill>
              </a:rPr>
              <a:t>Draft Component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546BCFF-4B68-F983-2D36-8A7C0728FC15}"/>
              </a:ext>
            </a:extLst>
          </p:cNvPr>
          <p:cNvSpPr/>
          <p:nvPr/>
        </p:nvSpPr>
        <p:spPr>
          <a:xfrm>
            <a:off x="4882896" y="22768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Quantization</a:t>
            </a:r>
            <a:endParaRPr lang="en-US" sz="8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B5233F0-F39A-4A3F-1A34-90FC61AB5332}"/>
              </a:ext>
            </a:extLst>
          </p:cNvPr>
          <p:cNvSpPr/>
          <p:nvPr/>
        </p:nvSpPr>
        <p:spPr>
          <a:xfrm>
            <a:off x="722284" y="2567870"/>
            <a:ext cx="45406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/>
              <a:t>I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9E2F056-752A-95B3-DDA3-B8CB7CF9DCA5}"/>
              </a:ext>
            </a:extLst>
          </p:cNvPr>
          <p:cNvSpPr/>
          <p:nvPr/>
        </p:nvSpPr>
        <p:spPr>
          <a:xfrm>
            <a:off x="1151316" y="2567870"/>
            <a:ext cx="165114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/>
              <a:t>Gemma-3-12B-it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B5DE55D-041B-0B29-4C88-59BBE0E4C16F}"/>
              </a:ext>
            </a:extLst>
          </p:cNvPr>
          <p:cNvSpPr/>
          <p:nvPr/>
        </p:nvSpPr>
        <p:spPr>
          <a:xfrm>
            <a:off x="2813862" y="2567870"/>
            <a:ext cx="1609867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dirty="0"/>
              <a:t>trained EAGLE-3 draft head</a:t>
            </a:r>
            <a:endParaRPr lang="en-KR"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B9F8BD2-1B7E-4F01-2D48-64BCA078FED3}"/>
              </a:ext>
            </a:extLst>
          </p:cNvPr>
          <p:cNvSpPr/>
          <p:nvPr/>
        </p:nvSpPr>
        <p:spPr>
          <a:xfrm>
            <a:off x="4430691" y="2567870"/>
            <a:ext cx="14447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dirty="0"/>
              <a:t>4-bit</a:t>
            </a:r>
            <a:r>
              <a:rPr lang="ko-KR" altLang="en-US" sz="1100" dirty="0"/>
              <a:t> </a:t>
            </a:r>
            <a:r>
              <a:rPr lang="en-US" altLang="ko-KR" sz="1100" dirty="0"/>
              <a:t>frozen</a:t>
            </a:r>
            <a:r>
              <a:rPr lang="en-US" sz="1100" dirty="0"/>
              <a:t> target</a:t>
            </a: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93135388-B86E-608B-F2A4-FA3E1BCCEE35}"/>
              </a:ext>
            </a:extLst>
          </p:cNvPr>
          <p:cNvSpPr/>
          <p:nvPr/>
        </p:nvSpPr>
        <p:spPr>
          <a:xfrm>
            <a:off x="4430691" y="2221237"/>
            <a:ext cx="1444752" cy="346297"/>
          </a:xfrm>
          <a:prstGeom prst="rect">
            <a:avLst/>
          </a:prstGeom>
          <a:solidFill>
            <a:srgbClr val="2E7D32"/>
          </a:solidFill>
          <a:ln w="635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KR" sz="1100" b="1">
                <a:solidFill>
                  <a:srgbClr val="FFFFFF"/>
                </a:solidFill>
              </a:rPr>
              <a:t>Quantization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E3870A8-651F-C3F4-CBCE-78932FBA152E}"/>
              </a:ext>
            </a:extLst>
          </p:cNvPr>
          <p:cNvSpPr/>
          <p:nvPr/>
        </p:nvSpPr>
        <p:spPr>
          <a:xfrm>
            <a:off x="731336" y="4238195"/>
            <a:ext cx="54864" cy="54864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5BF53EF-F336-F48D-2821-584B4487AF69}"/>
              </a:ext>
            </a:extLst>
          </p:cNvPr>
          <p:cNvSpPr/>
          <p:nvPr/>
        </p:nvSpPr>
        <p:spPr>
          <a:xfrm>
            <a:off x="731336" y="4722827"/>
            <a:ext cx="54864" cy="54864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E19EEEF-0ABE-C9AC-96A5-8FFA39C37451}"/>
              </a:ext>
            </a:extLst>
          </p:cNvPr>
          <p:cNvSpPr/>
          <p:nvPr/>
        </p:nvSpPr>
        <p:spPr>
          <a:xfrm>
            <a:off x="731336" y="5207459"/>
            <a:ext cx="54864" cy="54864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51A1EDF2-FE19-2C0A-D4DC-F83F39337EFF}"/>
              </a:ext>
            </a:extLst>
          </p:cNvPr>
          <p:cNvSpPr/>
          <p:nvPr/>
        </p:nvSpPr>
        <p:spPr>
          <a:xfrm>
            <a:off x="786200" y="370943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</a:rPr>
              <a:t>Objective</a:t>
            </a:r>
            <a:endParaRPr lang="en-US" sz="135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87A68455-D8DB-8E7B-3D47-5FF017A6E2AB}"/>
              </a:ext>
            </a:extLst>
          </p:cNvPr>
          <p:cNvSpPr/>
          <p:nvPr/>
        </p:nvSpPr>
        <p:spPr>
          <a:xfrm>
            <a:off x="969080" y="4093486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 lang="en-US" sz="1400" dirty="0"/>
              <a:t>Replace the separate full draft model with a learned draft head.</a:t>
            </a:r>
            <a:endParaRPr lang="en-US" sz="135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9ADEB990-BAB9-E1CF-6951-DCDDEE2A58E8}"/>
              </a:ext>
            </a:extLst>
          </p:cNvPr>
          <p:cNvSpPr/>
          <p:nvPr/>
        </p:nvSpPr>
        <p:spPr>
          <a:xfrm>
            <a:off x="969080" y="4550686"/>
            <a:ext cx="5486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Train a draft head that predicts future tokens from target hidden states.</a:t>
            </a:r>
            <a:endParaRPr lang="en-US" sz="135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DECD7E43-3F74-C171-8550-7BBAEBC093A3}"/>
              </a:ext>
            </a:extLst>
          </p:cNvPr>
          <p:cNvSpPr/>
          <p:nvPr/>
        </p:nvSpPr>
        <p:spPr>
          <a:xfrm>
            <a:off x="978224" y="5085610"/>
            <a:ext cx="5486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Use a 4-bit frozen Gemma-3-12B target during training and inference.</a:t>
            </a:r>
            <a:endParaRPr lang="en-US" sz="135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11DE7E38-4371-6AAB-5845-A91C2259DC14}"/>
              </a:ext>
            </a:extLst>
          </p:cNvPr>
          <p:cNvSpPr/>
          <p:nvPr/>
        </p:nvSpPr>
        <p:spPr>
          <a:xfrm>
            <a:off x="7239000" y="2773259"/>
            <a:ext cx="411480" cy="0"/>
          </a:xfrm>
          <a:prstGeom prst="line">
            <a:avLst/>
          </a:prstGeom>
          <a:noFill/>
          <a:ln w="20320">
            <a:solidFill>
              <a:srgbClr val="78BE20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4316ADEB-BF99-28B5-30E8-39B01686895B}"/>
              </a:ext>
            </a:extLst>
          </p:cNvPr>
          <p:cNvSpPr/>
          <p:nvPr/>
        </p:nvSpPr>
        <p:spPr>
          <a:xfrm>
            <a:off x="8793480" y="2773259"/>
            <a:ext cx="411480" cy="0"/>
          </a:xfrm>
          <a:prstGeom prst="line">
            <a:avLst/>
          </a:prstGeom>
          <a:noFill/>
          <a:ln w="20320">
            <a:solidFill>
              <a:srgbClr val="78BE20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04F10EAF-7CE0-8F36-CD05-CA8110948614}"/>
              </a:ext>
            </a:extLst>
          </p:cNvPr>
          <p:cNvSpPr/>
          <p:nvPr/>
        </p:nvSpPr>
        <p:spPr>
          <a:xfrm>
            <a:off x="10347960" y="2773259"/>
            <a:ext cx="411480" cy="0"/>
          </a:xfrm>
          <a:prstGeom prst="line">
            <a:avLst/>
          </a:prstGeom>
          <a:noFill/>
          <a:ln w="20320">
            <a:solidFill>
              <a:srgbClr val="78BE20"/>
            </a:solidFill>
            <a:prstDash val="solid"/>
            <a:tailEnd type="triangle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1057AC2A-6349-2AAE-7F12-0FB9B8C15E24}"/>
              </a:ext>
            </a:extLst>
          </p:cNvPr>
          <p:cNvSpPr/>
          <p:nvPr/>
        </p:nvSpPr>
        <p:spPr>
          <a:xfrm>
            <a:off x="6096000" y="2553803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414C2C54-B2CE-4EAF-6FBA-872C410B52F1}"/>
              </a:ext>
            </a:extLst>
          </p:cNvPr>
          <p:cNvSpPr/>
          <p:nvPr/>
        </p:nvSpPr>
        <p:spPr>
          <a:xfrm>
            <a:off x="6169152" y="2663531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11827"/>
                </a:solidFill>
              </a:rPr>
              <a:t>target hidden states</a:t>
            </a:r>
            <a:endParaRPr lang="en-US" sz="860" dirty="0"/>
          </a:p>
        </p:txBody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E1DAA50B-7B64-6EC9-1DA0-95CCFACEF73F}"/>
              </a:ext>
            </a:extLst>
          </p:cNvPr>
          <p:cNvSpPr/>
          <p:nvPr/>
        </p:nvSpPr>
        <p:spPr>
          <a:xfrm>
            <a:off x="7650480" y="2553803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DDF7C1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AF0B614C-96EC-7812-4169-0FDFDBB99050}"/>
              </a:ext>
            </a:extLst>
          </p:cNvPr>
          <p:cNvSpPr/>
          <p:nvPr/>
        </p:nvSpPr>
        <p:spPr>
          <a:xfrm>
            <a:off x="7723632" y="2663531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11827"/>
                </a:solidFill>
              </a:rPr>
              <a:t>fused</a:t>
            </a:r>
            <a:r>
              <a:rPr lang="ko-KR" altLang="en-US" sz="860" b="1" dirty="0">
                <a:solidFill>
                  <a:srgbClr val="111827"/>
                </a:solidFill>
              </a:rPr>
              <a:t> </a:t>
            </a:r>
            <a:r>
              <a:rPr lang="en-US" altLang="ko-KR" sz="860" b="1" dirty="0">
                <a:solidFill>
                  <a:srgbClr val="111827"/>
                </a:solidFill>
              </a:rPr>
              <a:t>hidden</a:t>
            </a:r>
            <a:r>
              <a:rPr lang="en-US" sz="860" b="1" dirty="0">
                <a:solidFill>
                  <a:srgbClr val="111827"/>
                </a:solidFill>
              </a:rPr>
              <a:t> features</a:t>
            </a:r>
            <a:endParaRPr lang="en-US" sz="860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A63677C2-12D5-E992-C5D0-B8189C23EAF3}"/>
              </a:ext>
            </a:extLst>
          </p:cNvPr>
          <p:cNvSpPr/>
          <p:nvPr/>
        </p:nvSpPr>
        <p:spPr>
          <a:xfrm>
            <a:off x="9204960" y="2553803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9FFC29B0-60BE-079A-3F07-D73CB1F8154E}"/>
              </a:ext>
            </a:extLst>
          </p:cNvPr>
          <p:cNvSpPr/>
          <p:nvPr/>
        </p:nvSpPr>
        <p:spPr>
          <a:xfrm>
            <a:off x="9278112" y="2663531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11827"/>
                </a:solidFill>
              </a:rPr>
              <a:t>draft head</a:t>
            </a:r>
            <a:endParaRPr lang="en-US" sz="860" dirty="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52769821-542C-384A-E016-33B36695AFE4}"/>
              </a:ext>
            </a:extLst>
          </p:cNvPr>
          <p:cNvSpPr/>
          <p:nvPr/>
        </p:nvSpPr>
        <p:spPr>
          <a:xfrm>
            <a:off x="10713720" y="2553803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DDF7C1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DA6B6BC1-C315-91B9-9339-907ECE70093C}"/>
              </a:ext>
            </a:extLst>
          </p:cNvPr>
          <p:cNvSpPr/>
          <p:nvPr/>
        </p:nvSpPr>
        <p:spPr>
          <a:xfrm>
            <a:off x="10786872" y="2663531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11827"/>
                </a:solidFill>
              </a:rPr>
              <a:t>candidate tokens</a:t>
            </a:r>
            <a:endParaRPr lang="en-US" sz="860" dirty="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F01EF85B-4127-06F6-3105-096DCBF7258A}"/>
              </a:ext>
            </a:extLst>
          </p:cNvPr>
          <p:cNvSpPr/>
          <p:nvPr/>
        </p:nvSpPr>
        <p:spPr>
          <a:xfrm>
            <a:off x="6675120" y="360308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</a:rPr>
              <a:t>Model ingredients</a:t>
            </a:r>
            <a:endParaRPr lang="en-US" sz="1350" dirty="0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7185173A-9062-E425-0008-DF18AAC72DA5}"/>
              </a:ext>
            </a:extLst>
          </p:cNvPr>
          <p:cNvSpPr/>
          <p:nvPr/>
        </p:nvSpPr>
        <p:spPr>
          <a:xfrm>
            <a:off x="6757416" y="4017543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DDF7C1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361A7FA2-D6FD-8226-7ACA-86A8B9D938A4}"/>
              </a:ext>
            </a:extLst>
          </p:cNvPr>
          <p:cNvSpPr/>
          <p:nvPr/>
        </p:nvSpPr>
        <p:spPr>
          <a:xfrm>
            <a:off x="6830568" y="4072407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</a:rPr>
              <a:t>three target hidden layers</a:t>
            </a:r>
            <a:endParaRPr lang="en-US" sz="880" dirty="0"/>
          </a:p>
        </p:txBody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36BC77C0-9D8D-F117-90E9-610219459FF6}"/>
              </a:ext>
            </a:extLst>
          </p:cNvPr>
          <p:cNvSpPr/>
          <p:nvPr/>
        </p:nvSpPr>
        <p:spPr>
          <a:xfrm>
            <a:off x="9303793" y="4023526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EB8E2EE9-D375-E9E7-ED1E-64F6D95213A4}"/>
              </a:ext>
            </a:extLst>
          </p:cNvPr>
          <p:cNvSpPr/>
          <p:nvPr/>
        </p:nvSpPr>
        <p:spPr>
          <a:xfrm>
            <a:off x="9376945" y="407839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</a:rPr>
              <a:t>fusion</a:t>
            </a:r>
            <a:r>
              <a:rPr lang="ko-KR" altLang="en-US" sz="880" b="1" dirty="0">
                <a:solidFill>
                  <a:srgbClr val="111827"/>
                </a:solidFill>
              </a:rPr>
              <a:t> </a:t>
            </a:r>
            <a:r>
              <a:rPr lang="en-US" altLang="ko-KR" sz="880" b="1" dirty="0">
                <a:solidFill>
                  <a:srgbClr val="111827"/>
                </a:solidFill>
              </a:rPr>
              <a:t>+</a:t>
            </a:r>
            <a:r>
              <a:rPr lang="ko-KR" altLang="en-US" sz="880" b="1" dirty="0">
                <a:solidFill>
                  <a:srgbClr val="111827"/>
                </a:solidFill>
              </a:rPr>
              <a:t> </a:t>
            </a:r>
            <a:r>
              <a:rPr lang="en-US" altLang="ko-KR" sz="880" b="1" dirty="0">
                <a:solidFill>
                  <a:srgbClr val="111827"/>
                </a:solidFill>
              </a:rPr>
              <a:t>input</a:t>
            </a:r>
            <a:r>
              <a:rPr lang="en-US" sz="880" b="1" dirty="0">
                <a:solidFill>
                  <a:srgbClr val="111827"/>
                </a:solidFill>
              </a:rPr>
              <a:t> projections</a:t>
            </a:r>
            <a:endParaRPr lang="en-US" sz="880" dirty="0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C292F7A1-282C-443A-2061-0A0A751147D6}"/>
              </a:ext>
            </a:extLst>
          </p:cNvPr>
          <p:cNvSpPr/>
          <p:nvPr/>
        </p:nvSpPr>
        <p:spPr>
          <a:xfrm>
            <a:off x="6771132" y="4552421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45597021-7A5C-F72A-4B3A-A1FE763F34F2}"/>
              </a:ext>
            </a:extLst>
          </p:cNvPr>
          <p:cNvSpPr/>
          <p:nvPr/>
        </p:nvSpPr>
        <p:spPr>
          <a:xfrm>
            <a:off x="6844284" y="4607285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</a:rPr>
              <a:t>target embedding layer</a:t>
            </a:r>
            <a:endParaRPr lang="en-US" sz="880" dirty="0"/>
          </a:p>
        </p:txBody>
      </p:sp>
      <p:sp>
        <p:nvSpPr>
          <p:cNvPr id="63" name="Shape 18">
            <a:extLst>
              <a:ext uri="{FF2B5EF4-FFF2-40B4-BE49-F238E27FC236}">
                <a16:creationId xmlns:a16="http://schemas.microsoft.com/office/drawing/2014/main" id="{40666A69-743A-1F2B-E6ED-E4A31CE31CC0}"/>
              </a:ext>
            </a:extLst>
          </p:cNvPr>
          <p:cNvSpPr/>
          <p:nvPr/>
        </p:nvSpPr>
        <p:spPr>
          <a:xfrm>
            <a:off x="9303793" y="4529483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882D4242-57BE-4669-7471-20154834398D}"/>
              </a:ext>
            </a:extLst>
          </p:cNvPr>
          <p:cNvSpPr/>
          <p:nvPr/>
        </p:nvSpPr>
        <p:spPr>
          <a:xfrm>
            <a:off x="9376945" y="4584347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</a:rPr>
              <a:t>one copied decoder layer</a:t>
            </a:r>
            <a:endParaRPr lang="en-US" sz="880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09665C93-7247-57BC-2A85-72AE6388B15B}"/>
              </a:ext>
            </a:extLst>
          </p:cNvPr>
          <p:cNvSpPr/>
          <p:nvPr/>
        </p:nvSpPr>
        <p:spPr>
          <a:xfrm>
            <a:off x="6771132" y="5087299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D8EA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02C61597-2108-B28E-DC72-D3C75BD44362}"/>
              </a:ext>
            </a:extLst>
          </p:cNvPr>
          <p:cNvSpPr/>
          <p:nvPr/>
        </p:nvSpPr>
        <p:spPr>
          <a:xfrm>
            <a:off x="6844284" y="5142163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</a:rPr>
              <a:t>frozen norm + LM head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81258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E232-5583-EA10-C7A1-EDE84EA8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DB8140-0E99-7D69-5821-4751EE4F9123}"/>
              </a:ext>
            </a:extLst>
          </p:cNvPr>
          <p:cNvSpPr/>
          <p:nvPr/>
        </p:nvSpPr>
        <p:spPr>
          <a:xfrm>
            <a:off x="0" y="13063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E6B00F-BD9E-06B8-001B-FBBD316C3C3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4CB1F8-BDFD-9C9A-92F9-12D9E8AEF96C}"/>
              </a:ext>
            </a:extLst>
          </p:cNvPr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</a:rPr>
              <a:t>Pair I </a:t>
            </a:r>
            <a:r>
              <a:rPr lang="en-US" altLang="ko-KR" sz="2800" b="1" dirty="0">
                <a:solidFill>
                  <a:srgbClr val="111827"/>
                </a:solidFill>
                <a:latin typeface="Aptos Display" pitchFamily="34" charset="0"/>
              </a:rPr>
              <a:t>:</a:t>
            </a:r>
            <a:r>
              <a:rPr lang="ko-KR" altLang="en-US" sz="2800" b="1" dirty="0">
                <a:solidFill>
                  <a:srgbClr val="111827"/>
                </a:solidFill>
                <a:latin typeface="Aptos Display" pitchFamily="34" charset="0"/>
              </a:rPr>
              <a:t> </a:t>
            </a: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</a:rPr>
              <a:t>EAGLE-3 Training Results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A6DAE1-21A7-6711-DA5B-E53AB2111898}"/>
              </a:ext>
            </a:extLst>
          </p:cNvPr>
          <p:cNvSpPr/>
          <p:nvPr/>
        </p:nvSpPr>
        <p:spPr>
          <a:xfrm>
            <a:off x="658368" y="1024128"/>
            <a:ext cx="9509760" cy="28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Module 2: EAGLE-3 Draft Head Training Draft Head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EFC930-FF18-B7AC-AD26-301CF4151519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E1B36B-EC2F-CDB0-188E-5AC9E797AFAC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12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8AF8591-5534-8747-DE5E-C9AA69C9C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94" y="1686628"/>
            <a:ext cx="4733109" cy="41987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8AB4EA9-EFE5-6D52-4E49-64F9B0C7C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86628"/>
            <a:ext cx="4423226" cy="289084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1BB6798-01DE-09CC-6801-B24D72219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368" y="2318656"/>
            <a:ext cx="2624416" cy="26831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6E3404B-9C4D-4F70-FC1F-91E477F795EC}"/>
              </a:ext>
            </a:extLst>
          </p:cNvPr>
          <p:cNvSpPr txBox="1"/>
          <p:nvPr/>
        </p:nvSpPr>
        <p:spPr>
          <a:xfrm>
            <a:off x="741876" y="4749528"/>
            <a:ext cx="1224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Takeaway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2BFC9A-64B0-FD19-221F-A5444A5602E2}"/>
              </a:ext>
            </a:extLst>
          </p:cNvPr>
          <p:cNvSpPr txBox="1"/>
          <p:nvPr/>
        </p:nvSpPr>
        <p:spPr>
          <a:xfrm>
            <a:off x="741876" y="5046267"/>
            <a:ext cx="432143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Training completed successfully: loss dropped from 145.3 at step 10 to below 1.0 by the final epoch, producing a usable EAGLE-3 checkpoint.</a:t>
            </a:r>
          </a:p>
          <a:p>
            <a:endParaRPr lang="en-US" sz="1100" dirty="0">
              <a:solidFill>
                <a:srgbClr val="5F6673"/>
              </a:solidFill>
              <a:latin typeface="Apto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54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7C60-7B56-679F-26B0-D762B4A2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E13967-0569-6B83-33DC-7BC2BB7F6046}"/>
              </a:ext>
            </a:extLst>
          </p:cNvPr>
          <p:cNvSpPr/>
          <p:nvPr/>
        </p:nvSpPr>
        <p:spPr>
          <a:xfrm>
            <a:off x="0" y="13063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EAD9F6-BD7C-6874-AED1-AD82E1BAF8D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94E748-AAA9-DA51-7B53-255807C2D588}"/>
              </a:ext>
            </a:extLst>
          </p:cNvPr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</a:rPr>
              <a:t>Pair I Results: EAGLE-3 Helps Selectively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964F2C-C1E3-909E-88AF-6904A50DA0D6}"/>
              </a:ext>
            </a:extLst>
          </p:cNvPr>
          <p:cNvSpPr/>
          <p:nvPr/>
        </p:nvSpPr>
        <p:spPr>
          <a:xfrm>
            <a:off x="658368" y="1024128"/>
            <a:ext cx="9509760" cy="28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Module 2: EAGLE-3 Draft Head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133A1C-C070-EDB6-238C-877EC3C9C73F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6BC708-8693-3FD2-4E1C-6820C0ABA7F8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13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0E9C010-B008-EE32-F08C-FC721F7CE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749" y="3305181"/>
            <a:ext cx="6163722" cy="3543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CDA22A-C529-1C0E-FE30-8CF7F9FD7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68831"/>
            <a:ext cx="7772400" cy="181430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39DC85-5001-DEF2-DF99-4E84D69347C9}"/>
              </a:ext>
            </a:extLst>
          </p:cNvPr>
          <p:cNvSpPr/>
          <p:nvPr/>
        </p:nvSpPr>
        <p:spPr>
          <a:xfrm>
            <a:off x="4447049" y="1583499"/>
            <a:ext cx="799206" cy="167784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1F6D11-C001-7EAF-229A-6A61DF0545B1}"/>
              </a:ext>
            </a:extLst>
          </p:cNvPr>
          <p:cNvSpPr txBox="1"/>
          <p:nvPr/>
        </p:nvSpPr>
        <p:spPr>
          <a:xfrm>
            <a:off x="704315" y="3784602"/>
            <a:ext cx="1224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Takeaway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FC3C2-7993-4F08-D900-DD93A7F9212B}"/>
              </a:ext>
            </a:extLst>
          </p:cNvPr>
          <p:cNvSpPr txBox="1"/>
          <p:nvPr/>
        </p:nvSpPr>
        <p:spPr>
          <a:xfrm>
            <a:off x="658368" y="4178682"/>
            <a:ext cx="475115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riviaQA is the strongest EAGLE task by far, peaking at 2.368x speedup for tree</a:t>
            </a:r>
            <a:r>
              <a:rPr lang="ko-KR" altLang="en-US" sz="1200" dirty="0">
                <a:solidFill>
                  <a:srgbClr val="5F6673"/>
                </a:solidFill>
                <a:latin typeface="Aptos" pitchFamily="34" charset="0"/>
              </a:rPr>
              <a:t> 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budget = 20 and temperature = 0.0</a:t>
            </a:r>
          </a:p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ko-KR" alt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120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ritingPrompts gets close to baseline, but HumanEval and CNN/DailyMail remain below baseline.</a:t>
            </a:r>
          </a:p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6DB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5F6673"/>
                </a:solidFill>
                <a:latin typeface="Aptos" pitchFamily="34" charset="0"/>
              </a:rPr>
              <a:t>CNN/DailyMail remains the hardest case, suggesting long-context verification is still a limitation.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B614B4F-2820-F4AE-C6EE-81A6BC00A67C}"/>
                  </a:ext>
                </a:extLst>
              </p14:cNvPr>
              <p14:cNvContentPartPr/>
              <p14:nvPr/>
            </p14:nvContentPartPr>
            <p14:xfrm>
              <a:off x="4610855" y="2489651"/>
              <a:ext cx="339480" cy="2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B614B4F-2820-F4AE-C6EE-81A6BC00A6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5215" y="2418011"/>
                <a:ext cx="411120" cy="1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980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F6673"/>
                </a:solidFill>
                <a:latin typeface="Aptos" pitchFamily="34" charset="0"/>
              </a:rPr>
              <a:t>The final results show when Gemma inference acceleration helps in practice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</a:t>
            </a:r>
            <a:r>
              <a:rPr lang="en-US" altLang="ko-KR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395728"/>
            <a:ext cx="347472" cy="347472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377440"/>
            <a:ext cx="6691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500" dirty="0"/>
              <a:t>Pair F and EAGLE-3 provide two completed paths for Gemma inference acceleration</a:t>
            </a:r>
            <a:r>
              <a:rPr lang="en-US" sz="1420" dirty="0">
                <a:solidFill>
                  <a:srgbClr val="151515"/>
                </a:solidFill>
                <a:latin typeface="Aptos" pitchFamily="34" charset="0"/>
              </a:rPr>
              <a:t>.</a:t>
            </a:r>
          </a:p>
        </p:txBody>
      </p:sp>
      <p:sp>
        <p:nvSpPr>
          <p:cNvPr id="11" name="Text 9"/>
          <p:cNvSpPr/>
          <p:nvPr/>
        </p:nvSpPr>
        <p:spPr>
          <a:xfrm>
            <a:off x="804672" y="3182112"/>
            <a:ext cx="347472" cy="347472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79" y="3163824"/>
            <a:ext cx="9813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Speedup depends on draft-target agreement; low acceptance can eliminate the benefit.</a:t>
            </a:r>
          </a:p>
        </p:txBody>
      </p:sp>
      <p:sp>
        <p:nvSpPr>
          <p:cNvPr id="13" name="Text 11"/>
          <p:cNvSpPr/>
          <p:nvPr/>
        </p:nvSpPr>
        <p:spPr>
          <a:xfrm>
            <a:off x="804672" y="4005440"/>
            <a:ext cx="347472" cy="347472"/>
          </a:xfrm>
          <a:prstGeom prst="rect">
            <a:avLst/>
          </a:prstGeom>
          <a:solidFill>
            <a:srgbClr val="6DBB2A"/>
          </a:solidFill>
          <a:ln>
            <a:solidFill>
              <a:srgbClr val="6DBB2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987152"/>
            <a:ext cx="884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Practical deployment requires balancing throughput, TTFT, VRAM, and engineering constraints.</a:t>
            </a:r>
            <a:endParaRPr lang="en-US" sz="1420" dirty="0">
              <a:solidFill>
                <a:srgbClr val="151515"/>
              </a:solidFill>
              <a:latin typeface="Apto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2668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698480" cy="0"/>
          </a:xfrm>
          <a:prstGeom prst="line">
            <a:avLst/>
          </a:prstGeom>
          <a:noFill/>
          <a:ln w="1651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ptos" pitchFamily="34" charset="0"/>
              </a:rPr>
              <a:t>Next step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89065" y="5404104"/>
            <a:ext cx="868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/>
              <a:t>Improve long-context EAGLE verification for CNN/DailyMail-style tasks.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BC41-C4A6-E9B5-8848-AB68B4D3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8FFAC3-C5A1-8E12-C980-92C9F0A1300C}"/>
              </a:ext>
            </a:extLst>
          </p:cNvPr>
          <p:cNvSpPr/>
          <p:nvPr/>
        </p:nvSpPr>
        <p:spPr>
          <a:xfrm>
            <a:off x="0" y="13063"/>
            <a:ext cx="12191695" cy="6858000"/>
          </a:xfrm>
          <a:prstGeom prst="rect">
            <a:avLst/>
          </a:prstGeom>
          <a:solidFill>
            <a:srgbClr val="FAFBF8"/>
          </a:solidFill>
          <a:ln w="12700">
            <a:solidFill>
              <a:srgbClr val="FAFB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BE0F48-4D48-AE08-83D6-E460F590627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BB2A"/>
          </a:solidFill>
          <a:ln w="12700">
            <a:solidFill>
              <a:srgbClr val="6DB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3F769C-9BEE-A1D8-9804-F132EEA93AC2}"/>
              </a:ext>
            </a:extLst>
          </p:cNvPr>
          <p:cNvSpPr/>
          <p:nvPr/>
        </p:nvSpPr>
        <p:spPr>
          <a:xfrm>
            <a:off x="3060006" y="3168396"/>
            <a:ext cx="56775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4800" b="1" dirty="0">
                <a:solidFill>
                  <a:srgbClr val="111827"/>
                </a:solidFill>
                <a:latin typeface="Aptos Display" pitchFamily="34" charset="0"/>
              </a:rPr>
              <a:t>Thank you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2306649-8E26-B67D-B1CB-1D1C0156A0E4}"/>
              </a:ext>
            </a:extLst>
          </p:cNvPr>
          <p:cNvSpPr/>
          <p:nvPr/>
        </p:nvSpPr>
        <p:spPr>
          <a:xfrm>
            <a:off x="640080" y="1389888"/>
            <a:ext cx="10881360" cy="0"/>
          </a:xfrm>
          <a:prstGeom prst="line">
            <a:avLst/>
          </a:prstGeom>
          <a:noFill/>
          <a:ln w="15240">
            <a:solidFill>
              <a:srgbClr val="D9E5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FE4854-F7FA-C828-AFBA-06631AD5FA2C}"/>
              </a:ext>
            </a:extLst>
          </p:cNvPr>
          <p:cNvSpPr/>
          <p:nvPr/>
        </p:nvSpPr>
        <p:spPr>
          <a:xfrm>
            <a:off x="640080" y="64556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Decoding Project  |  15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65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1140</Words>
  <Application>Microsoft Macintosh PowerPoint</Application>
  <PresentationFormat>Widescreen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GWU NLP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Decoding Acceleration for LLMs</dc:title>
  <dc:subject>Speculative Decoding Presentation</dc:subject>
  <dc:creator>OpenAI</dc:creator>
  <cp:lastModifiedBy>An, Jeongmin</cp:lastModifiedBy>
  <cp:revision>12</cp:revision>
  <dcterms:created xsi:type="dcterms:W3CDTF">2026-04-27T18:33:50Z</dcterms:created>
  <dcterms:modified xsi:type="dcterms:W3CDTF">2026-04-28T19:11:47Z</dcterms:modified>
</cp:coreProperties>
</file>